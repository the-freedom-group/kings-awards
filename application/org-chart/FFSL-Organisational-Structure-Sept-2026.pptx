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pic>
        <p:nvPicPr>
          <p:cNvPr id="3" name="Picture 2" descr="ff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"/>
            <a:ext cx="146304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48840" y="274320"/>
            <a:ext cx="60350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Segoe UI"/>
              </a:rPr>
              <a:t>Freedom Fire &amp; Safety Ltd — Organisational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640080"/>
            <a:ext cx="603504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B4B47"/>
                </a:solidFill>
                <a:latin typeface="Segoe UI"/>
              </a:rPr>
              <a:t>Company 13589467 · Unit 19, Pilsworth Industrial Estate, Bury, BL9 8RE · Trading as Freedom Global · A self-contained operating business with its own leadership, team and departments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301752"/>
            <a:ext cx="2048256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C40000"/>
                </a:solidFill>
                <a:latin typeface="Segoe UI"/>
              </a:rPr>
              <a:t>DATED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Segoe UI"/>
              </a:rPr>
              <a:t>September 2026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4B4B47"/>
                </a:solidFill>
                <a:latin typeface="Segoe UI"/>
              </a:rPr>
              <a:t>King's Awards for Enterprise 2027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960120"/>
            <a:ext cx="9866376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514600" y="1060704"/>
            <a:ext cx="2743200" cy="45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Tom Letcher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DDDDDD"/>
                </a:solidFill>
                <a:latin typeface="Segoe UI"/>
              </a:rPr>
              <a:t>Founder &amp; Managing Director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517904"/>
            <a:ext cx="2743200" cy="36576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886200" y="1554480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32154" y="1700784"/>
            <a:ext cx="530809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2154" y="1700784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1480" y="1847088"/>
            <a:ext cx="1641348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LEADERSHIP AND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12848"/>
            <a:ext cx="1641348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1">
                <a:solidFill>
                  <a:srgbClr val="8A8A85"/>
                </a:solidFill>
                <a:latin typeface="Segoe UI"/>
              </a:rPr>
              <a:t>Direction, group strategy, supplier and partner relationships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1518" y="1700784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180844" y="1847088"/>
            <a:ext cx="1641348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E-COMMERCE AND MARKETPLACE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0844" y="2194560"/>
            <a:ext cx="16413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Bill Nebo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Web Developer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80844" y="2194560"/>
            <a:ext cx="45720" cy="310896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276856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Part-time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80844" y="2551176"/>
            <a:ext cx="16413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Gabriel Mroczek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Web Developer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0844" y="2551176"/>
            <a:ext cx="45720" cy="310896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2633472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Part-time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80844" y="2907792"/>
            <a:ext cx="16413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Elliot Saxon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Ecommerce Assistant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0844" y="2907792"/>
            <a:ext cx="45720" cy="310896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2990088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Full-time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80844" y="3264408"/>
            <a:ext cx="16413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Josh Okolanji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Ecommerce Assistant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80844" y="3264408"/>
            <a:ext cx="45720" cy="310896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00400" y="3346704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Part-time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80844" y="3639312"/>
            <a:ext cx="1641348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11111"/>
                </a:solidFill>
                <a:latin typeface="Segoe UI"/>
              </a:rPr>
              <a:t>Bill and Gabriel: T Level placements, then summer interns, now part-time employees within the business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600" b="0" i="1">
                <a:solidFill>
                  <a:srgbClr val="8A8A85"/>
                </a:solidFill>
                <a:latin typeface="Segoe UI"/>
              </a:rPr>
              <a:t>External, contracted: Ecommerce Intelligence (Amazon agency) · Regan Prestwood (graphic design)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70882" y="1700784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950208" y="1847088"/>
            <a:ext cx="1641348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OPERATIONS AND FULFILMENT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8" y="2194560"/>
            <a:ext cx="16413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Jojo Williams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Warehouse Operative · via Newbridge College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0208" y="2194560"/>
            <a:ext cx="45720" cy="640080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69764" y="2441448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Full-time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0208" y="2880360"/>
            <a:ext cx="16413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Harrison Duckworth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Warehouse Operative · T Level student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50208" y="2880360"/>
            <a:ext cx="45720" cy="640080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69764" y="3127248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Full-time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50208" y="3566160"/>
            <a:ext cx="16413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Dylan Griffiths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Warehouse Operative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0208" y="3566160"/>
            <a:ext cx="45720" cy="310896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69764" y="3648456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Full-time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50208" y="3941063"/>
            <a:ext cx="1641348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111111"/>
                </a:solidFill>
                <a:latin typeface="Segoe UI"/>
              </a:rPr>
              <a:t>Harrison and Dylan: full-time as subcontractors for the past six months, now moving into full-time employment within the business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40246" y="1700784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719572" y="1847088"/>
            <a:ext cx="1641348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SALES AND CUSTOMER 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9572" y="2212848"/>
            <a:ext cx="1641348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1">
                <a:solidFill>
                  <a:srgbClr val="8A8A85"/>
                </a:solidFill>
                <a:latin typeface="Segoe UI"/>
              </a:rPr>
              <a:t>Trade sales and key accounts. Customer messages, returns and reviews are handled through the support desk, shared with the e-commerce team. No dedicated post at September 2026.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32154" y="1700784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1752" y="1700784"/>
            <a:ext cx="0" cy="2724912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01752" y="1700784"/>
            <a:ext cx="930402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1752" y="4425696"/>
            <a:ext cx="5943600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27048" y="4425696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11480" y="4572000"/>
            <a:ext cx="2231136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FIRE-SAFETY SERVICES AND COMPLIANCE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919472"/>
            <a:ext cx="223113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Gary Hodson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Risk Assessor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5001768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111111"/>
                </a:solidFill>
                <a:latin typeface="Segoe UI"/>
              </a:rPr>
              <a:t>Subcontractor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294375"/>
            <a:ext cx="2231136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1">
                <a:solidFill>
                  <a:srgbClr val="8A8A85"/>
                </a:solidFill>
                <a:latin typeface="Segoe UI"/>
              </a:rPr>
              <a:t>Servicing, installation, fire risk assessment and contracted site work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886200" y="4425696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770632" y="4572000"/>
            <a:ext cx="2231136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BUSINESS SUPPORT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70632" y="4919472"/>
            <a:ext cx="223113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Alex Parker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Accounts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79976" y="5001768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Part-time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70632" y="5276088"/>
            <a:ext cx="223113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Vishal Bhanderi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Accounts &amp; Bookkeeping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79976" y="5358383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Part-time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70632" y="5632703"/>
            <a:ext cx="223113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Milad Shukri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79976" y="5714999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111111"/>
                </a:solidFill>
                <a:latin typeface="Segoe UI"/>
              </a:rPr>
              <a:t>Subcontractor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70632" y="5989319"/>
            <a:ext cx="223113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640080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Segoe UI"/>
              </a:rPr>
              <a:t>Billy Kelly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4B4B47"/>
                </a:solidFill>
                <a:latin typeface="Segoe UI"/>
              </a:rPr>
              <a:t>IT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79976" y="6071615"/>
            <a:ext cx="585216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4B4B47"/>
                </a:solidFill>
                <a:latin typeface="Segoe UI"/>
              </a:rPr>
              <a:t>Volunteer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245352" y="4425696"/>
            <a:ext cx="0" cy="146304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129784" y="4572000"/>
            <a:ext cx="2231136" cy="292608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EARLY CAREERS, PLACEMENTS AND TRAINING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9784" y="4919472"/>
            <a:ext cx="2231136" cy="1682495"/>
          </a:xfrm>
          <a:prstGeom prst="rect">
            <a:avLst/>
          </a:prstGeom>
          <a:solidFill>
            <a:srgbClr val="F4F4F1"/>
          </a:solidFill>
          <a:ln w="9525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60" b="0">
                <a:solidFill>
                  <a:srgbClr val="4B4B47"/>
                </a:solidFill>
                <a:latin typeface="Segoe UI"/>
              </a:rPr>
              <a:t>College placements since 2021 (Newbridge College, additional needs)</a:t>
            </a:r>
          </a:p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660" b="0">
                <a:solidFill>
                  <a:srgbClr val="4B4B47"/>
                </a:solidFill>
                <a:latin typeface="Segoe UI"/>
              </a:rPr>
              <a:t>T Level industry placements since Sept 2025 (Growth Company)</a:t>
            </a:r>
          </a:p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660" b="0">
                <a:solidFill>
                  <a:srgbClr val="4B4B47"/>
                </a:solidFill>
                <a:latin typeface="Segoe UI"/>
              </a:rPr>
              <a:t>Recruitment open to Jobcentre Plus referrals</a:t>
            </a:r>
          </a:p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660" b="0">
                <a:solidFill>
                  <a:srgbClr val="4B4B47"/>
                </a:solidFill>
                <a:latin typeface="Segoe UI"/>
              </a:rPr>
              <a:t>Disability Confident Committed (Level 1); Level 2 Employer in progress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6766560"/>
            <a:ext cx="4572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111111"/>
                </a:solidFill>
                <a:latin typeface="Segoe UI"/>
              </a:rPr>
              <a:t>KEY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5528" y="6775704"/>
            <a:ext cx="676656" cy="14630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Full-time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27048" y="6775704"/>
            <a:ext cx="676656" cy="146304"/>
          </a:xfrm>
          <a:prstGeom prst="roundRect">
            <a:avLst>
              <a:gd name="adj" fmla="val 50000"/>
            </a:avLst>
          </a:prstGeom>
          <a:solidFill>
            <a:srgbClr val="8A8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FFFFFF"/>
                </a:solidFill>
                <a:latin typeface="Segoe UI"/>
              </a:rPr>
              <a:t>Part-time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58568" y="6775704"/>
            <a:ext cx="676656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111111"/>
                </a:solidFill>
                <a:latin typeface="Segoe UI"/>
              </a:rPr>
              <a:t>Subcontractor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990087" y="6775704"/>
            <a:ext cx="676656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8A8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4B4B47"/>
                </a:solidFill>
                <a:latin typeface="Segoe UI"/>
              </a:rPr>
              <a:t>Volunteer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94759" y="6775704"/>
            <a:ext cx="45720" cy="146304"/>
          </a:xfrm>
          <a:prstGeom prst="rect">
            <a:avLst/>
          </a:prstGeom>
          <a:solidFill>
            <a:srgbClr val="C4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49623" y="6748272"/>
            <a:ext cx="329184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B4B47"/>
                </a:solidFill>
                <a:latin typeface="Segoe UI"/>
              </a:rPr>
              <a:t>Red edge: came into the company through The Way In (college placement, T Level industry placement or Jobcentre Plus referral)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7040880"/>
            <a:ext cx="69494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8A8A85"/>
                </a:solidFill>
                <a:latin typeface="Segoe UI"/>
              </a:rPr>
              <a:t>Prepared 6 September 2026 from the company staff register. Employment basis shown as at September 2026, including moves into direct employment now in progress.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1060704"/>
            <a:ext cx="2688336" cy="5541264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pic>
        <p:nvPicPr>
          <p:cNvPr id="76" name="Picture 75" descr="group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207007"/>
            <a:ext cx="560698" cy="56692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8412480" y="1207007"/>
            <a:ext cx="177393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FFFFFF"/>
                </a:solidFill>
                <a:latin typeface="Segoe UI"/>
              </a:rPr>
              <a:t>FREEDOM GROUP ENTERPRISES LTD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6A3D"/>
                </a:solidFill>
                <a:latin typeface="Segoe UI"/>
              </a:rPr>
              <a:t>Developing group 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BBBBBB"/>
                </a:solidFill>
                <a:latin typeface="Segoe UI"/>
              </a:rPr>
              <a:t>Group company. Strategy and brand architecture.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54112" y="1883664"/>
            <a:ext cx="2359152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7754112" y="1975104"/>
            <a:ext cx="23591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6A3D"/>
                </a:solidFill>
                <a:latin typeface="Segoe UI"/>
              </a:rPr>
              <a:t>     TRADING NOW</a:t>
            </a:r>
          </a:p>
        </p:txBody>
      </p:sp>
      <p:sp>
        <p:nvSpPr>
          <p:cNvPr id="80" name="Oval 79"/>
          <p:cNvSpPr/>
          <p:nvPr/>
        </p:nvSpPr>
        <p:spPr>
          <a:xfrm>
            <a:off x="7754112" y="2020824"/>
            <a:ext cx="91440" cy="91440"/>
          </a:xfrm>
          <a:prstGeom prst="ellipse">
            <a:avLst/>
          </a:prstGeom>
          <a:solidFill>
            <a:srgbClr val="FF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54112" y="2194560"/>
            <a:ext cx="2359152" cy="786384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</a:rPr>
              <a:t>Freedom Fire &amp; Safety Ltd · becoming Freedom Global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BBBBBB"/>
                </a:solidFill>
                <a:latin typeface="Segoe UI"/>
              </a:rPr>
              <a:t>Incorporated 27 August 2021 · the operating company on this page. Trades today as Freedom Global on eBay, Amazon, Temu, OnBuy and Shopify; takes the Freedom Global name, with Freedom Fire &amp; Safety continuing as the fire-safety brand.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54112" y="3090672"/>
            <a:ext cx="23591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FE0A0"/>
                </a:solidFill>
                <a:latin typeface="Segoe UI"/>
              </a:rPr>
              <a:t>     PROPOSED · 2028 TO 2029</a:t>
            </a:r>
          </a:p>
        </p:txBody>
      </p:sp>
      <p:sp>
        <p:nvSpPr>
          <p:cNvPr id="83" name="Oval 82"/>
          <p:cNvSpPr/>
          <p:nvPr/>
        </p:nvSpPr>
        <p:spPr>
          <a:xfrm>
            <a:off x="7754112" y="3136392"/>
            <a:ext cx="91440" cy="91440"/>
          </a:xfrm>
          <a:prstGeom prst="ellipse">
            <a:avLst/>
          </a:prstGeom>
          <a:solidFill>
            <a:srgbClr val="2F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54112" y="3310128"/>
            <a:ext cx="2359152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</a:rPr>
              <a:t>Freedom Facilities · 2028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BBBBBB"/>
                </a:solidFill>
                <a:latin typeface="Segoe UI"/>
              </a:rPr>
              <a:t>Compliance, servicing and facilities on recurring contracts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54112" y="3822191"/>
            <a:ext cx="2359152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</a:rPr>
              <a:t>Freedom Distribution · 2029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BBBBBB"/>
                </a:solidFill>
                <a:latin typeface="Segoe UI"/>
              </a:rPr>
              <a:t>Trade and B2B supply of the owned brands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54112" y="4389120"/>
            <a:ext cx="235915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A487DF"/>
                </a:solidFill>
                <a:latin typeface="Segoe UI"/>
              </a:rPr>
              <a:t>     LONG-TERM OPTIONS · 2030 ONWARDS</a:t>
            </a:r>
          </a:p>
        </p:txBody>
      </p:sp>
      <p:sp>
        <p:nvSpPr>
          <p:cNvPr id="87" name="Oval 86"/>
          <p:cNvSpPr/>
          <p:nvPr/>
        </p:nvSpPr>
        <p:spPr>
          <a:xfrm>
            <a:off x="7754112" y="4434840"/>
            <a:ext cx="91440" cy="91440"/>
          </a:xfrm>
          <a:prstGeom prst="ellipse">
            <a:avLst/>
          </a:prstGeom>
          <a:solidFill>
            <a:srgbClr val="A48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54112" y="4608576"/>
            <a:ext cx="2359152" cy="457200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Segoe UI"/>
              </a:rPr>
              <a:t>Form · Freight · Fly · Fuel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BBBBBB"/>
                </a:solidFill>
                <a:latin typeface="Segoe UI"/>
              </a:rPr>
              <a:t>Property, logistics, aerial services and forecourts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54112" y="5193791"/>
            <a:ext cx="2359152" cy="566928"/>
          </a:xfrm>
          <a:prstGeom prst="rect">
            <a:avLst/>
          </a:prstGeom>
          <a:solidFill>
            <a:srgbClr val="161616"/>
          </a:solidFill>
          <a:ln w="63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38A9FF"/>
                </a:solidFill>
                <a:latin typeface="Segoe UI"/>
              </a:rPr>
              <a:t>SHARED INFRASTRUCTURE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BBBBBB"/>
                </a:solidFill>
                <a:latin typeface="Segoe UI"/>
              </a:rPr>
              <a:t>Brands &amp; IP (Firestorm, FXL, Skyline) · direct sourcing · one warehouse · technology · marketplaces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54112" y="6035040"/>
            <a:ext cx="235915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54864" rIns="54864" tIns="27432" bIns="27432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 i="1">
                <a:solidFill>
                  <a:srgbClr val="9A9A9A"/>
                </a:solidFill>
                <a:latin typeface="Segoe UI"/>
              </a:rPr>
              <a:t>The group company and the proposed companies are not yet on the register. Years are targets; long-term options are not plans.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