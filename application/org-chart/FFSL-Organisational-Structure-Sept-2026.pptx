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689336" cy="756208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689336" cy="75620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pic>
        <p:nvPicPr>
          <p:cNvPr id="3" name="Picture 2" descr="ff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329184"/>
            <a:ext cx="1463040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2148840" y="274320"/>
            <a:ext cx="603504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11111"/>
                </a:solidFill>
                <a:latin typeface="Segoe UI"/>
              </a:rPr>
              <a:t>Freedom Fire &amp; Safety Ltd — Organisational Structure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148840" y="640080"/>
            <a:ext cx="603504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4B4B47"/>
                </a:solidFill>
                <a:latin typeface="Segoe UI"/>
              </a:rPr>
              <a:t>Company 13589467 · Unit 19, Pilsworth Industrial Estate, Bury, BL9 8RE · A self-contained operating business with its own leadership, team and departments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0" y="301752"/>
            <a:ext cx="2048256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C40000"/>
                </a:solidFill>
                <a:latin typeface="Segoe UI"/>
              </a:rPr>
              <a:t>DATED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11111"/>
                </a:solidFill>
                <a:latin typeface="Segoe UI"/>
              </a:rPr>
              <a:t>September 2026</a:t>
            </a:r>
          </a:p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650" b="0">
                <a:solidFill>
                  <a:srgbClr val="4B4B47"/>
                </a:solidFill>
                <a:latin typeface="Segoe UI"/>
              </a:rPr>
              <a:t>King's Awards for Enterprise 2027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11480" y="960120"/>
            <a:ext cx="9866376" cy="0"/>
          </a:xfrm>
          <a:prstGeom prst="line">
            <a:avLst/>
          </a:prstGeom>
          <a:ln w="1905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2514600" y="1060704"/>
            <a:ext cx="2743200" cy="4572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Segoe UI"/>
              </a:rPr>
              <a:t>Tom Letcher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20" b="0">
                <a:solidFill>
                  <a:srgbClr val="DDDDDD"/>
                </a:solidFill>
                <a:latin typeface="Segoe UI"/>
              </a:rPr>
              <a:t>Founder &amp; Managing Director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2514600" y="1517904"/>
            <a:ext cx="2743200" cy="3657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3886200" y="1554480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232154" y="1700784"/>
            <a:ext cx="5308092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232154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11480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LEADERSHIP AND STRATEGY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212848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Direction, group strategy, supplier and partner relationships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1518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180844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E-COMMERCE AND MARKETPLACE MANAGEMENT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80844" y="2194560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Bill Nebo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Web Developer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0844" y="2194560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2276856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80844" y="2551176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Gabriel Mroczek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Web Developer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0844" y="2551176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200400" y="2633472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80844" y="2907792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Elliot Saxon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Ecommerce Assistant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0844" y="2907792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200400" y="299008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80844" y="3264408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Josh Okolanji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Ecommerce Assistant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180844" y="3264408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00400" y="3346704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180844" y="3639312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11111"/>
                </a:solidFill>
                <a:latin typeface="Segoe UI"/>
              </a:rPr>
              <a:t>Bill and Gabriel: T Level placements, then summer interns, now part-time employees within the business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External, contracted: Ecommerce Intelligence (Amazon agency) · Regan Prestwood (graphic design)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70882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3950208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OPERATIONS AND FULFILMENT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950208" y="2194560"/>
            <a:ext cx="16413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Jojo Williams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 · via Newbridge College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950208" y="2194560"/>
            <a:ext cx="45720" cy="640080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969764" y="244144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950208" y="2880360"/>
            <a:ext cx="1641348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Harrison Duckworth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 · T Level student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950208" y="2880360"/>
            <a:ext cx="45720" cy="640080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969764" y="312724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950208" y="3566160"/>
            <a:ext cx="1641348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Dylan Griffiths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Warehouse Operative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950208" y="3566160"/>
            <a:ext cx="45720" cy="310896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4969764" y="3648456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50208" y="3941063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111111"/>
                </a:solidFill>
                <a:latin typeface="Segoe UI"/>
              </a:rPr>
              <a:t>Harrison and Dylan: part-time, moving into full-time employment within the business from August 2026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540246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5719572" y="1847088"/>
            <a:ext cx="1641348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SALES AND CUSTOMER SERVICE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19572" y="2212848"/>
            <a:ext cx="1641348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Trade sales and key accounts. Customer messages, returns and reviews are handled through the support desk, shared with the e-commerce team. No dedicated post at September 2026.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232154" y="1700784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301752" y="1700784"/>
            <a:ext cx="0" cy="2724912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301752" y="1700784"/>
            <a:ext cx="930402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01752" y="4425696"/>
            <a:ext cx="5943600" cy="0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527048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411480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FIRE-SAFETY SERVICES AND COMPLIANCE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919472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Gary Hodson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Risk Assessor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020824" y="500176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294375"/>
            <a:ext cx="2231136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 i="1">
                <a:solidFill>
                  <a:srgbClr val="8A8A85"/>
                </a:solidFill>
                <a:latin typeface="Segoe UI"/>
              </a:rPr>
              <a:t>Servicing, installation, fire risk assessment and contracted site work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3886200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2770632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BUSINESS SUPPORT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70632" y="4919472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Alex Parker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Accounts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379976" y="5001768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70632" y="5276088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Vishal Bhanderi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Accounts &amp; Bookkeeping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379976" y="5358383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70632" y="5632703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Milad Shukri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IT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379976" y="5714999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70632" y="5989319"/>
            <a:ext cx="2231136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640080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1">
                <a:solidFill>
                  <a:srgbClr val="111111"/>
                </a:solidFill>
                <a:latin typeface="Segoe UI"/>
              </a:rPr>
              <a:t>Billy Kelly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4B4B47"/>
                </a:solidFill>
                <a:latin typeface="Segoe UI"/>
              </a:rPr>
              <a:t>IT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379976" y="6071615"/>
            <a:ext cx="58521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4B4B47"/>
                </a:solidFill>
                <a:latin typeface="Segoe UI"/>
              </a:rPr>
              <a:t>Volunteer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245352" y="4425696"/>
            <a:ext cx="0" cy="146304"/>
          </a:xfrm>
          <a:prstGeom prst="line">
            <a:avLst/>
          </a:prstGeom>
          <a:ln w="15240">
            <a:solidFill>
              <a:srgbClr val="11111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5129784" y="4572000"/>
            <a:ext cx="2231136" cy="292608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1">
                <a:solidFill>
                  <a:srgbClr val="FFFFFF"/>
                </a:solidFill>
                <a:latin typeface="Segoe UI"/>
              </a:rPr>
              <a:t>EARLY CAREERS, PLACEMENTS AND TRAINING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9784" y="4919472"/>
            <a:ext cx="2231136" cy="1682495"/>
          </a:xfrm>
          <a:prstGeom prst="rect">
            <a:avLst/>
          </a:prstGeom>
          <a:solidFill>
            <a:srgbClr val="F4F4F1"/>
          </a:solidFill>
          <a:ln w="9525">
            <a:solidFill>
              <a:srgbClr val="D9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College placements since 2021 (Newbridge College, additional needs)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T Level industry placements since Sept 2025 (Growth Company)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Recruitment open to Jobcentre Plus referrals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660" b="0">
                <a:solidFill>
                  <a:srgbClr val="4B4B47"/>
                </a:solidFill>
                <a:latin typeface="Segoe UI"/>
              </a:rPr>
              <a:t>Disability Confident Committed (Level 1); Level 2 Employer in progress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6766560"/>
            <a:ext cx="457200" cy="1645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1">
                <a:solidFill>
                  <a:srgbClr val="111111"/>
                </a:solidFill>
                <a:latin typeface="Segoe UI"/>
              </a:rPr>
              <a:t>KEY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9552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Full-time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52704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8A8A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FFFFFF"/>
                </a:solidFill>
                <a:latin typeface="Segoe UI"/>
              </a:rPr>
              <a:t>Part-time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2258568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1111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111111"/>
                </a:solidFill>
                <a:latin typeface="Segoe UI"/>
              </a:rPr>
              <a:t>Subcontractor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90087" y="6775704"/>
            <a:ext cx="676656" cy="1463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8A8A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0" bIns="0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550" b="1">
                <a:solidFill>
                  <a:srgbClr val="4B4B47"/>
                </a:solidFill>
                <a:latin typeface="Segoe UI"/>
              </a:rPr>
              <a:t>Volunteer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94759" y="6775704"/>
            <a:ext cx="45720" cy="146304"/>
          </a:xfrm>
          <a:prstGeom prst="rect">
            <a:avLst/>
          </a:prstGeom>
          <a:solidFill>
            <a:srgbClr val="C4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849623" y="6748272"/>
            <a:ext cx="3291840" cy="21945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4B4B47"/>
                </a:solidFill>
                <a:latin typeface="Segoe UI"/>
              </a:rPr>
              <a:t>Red edge: came into the company through The Way In (college placement, T Level industry placement or Jobcentre Plus referral)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7040880"/>
            <a:ext cx="69494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8A8A85"/>
                </a:solidFill>
                <a:latin typeface="Segoe UI"/>
              </a:rPr>
              <a:t>Prepared 7 September 2026 from the company staff register. Employment basis shown as at September 2026, including moves into direct employment now in progress.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589520" y="1060704"/>
            <a:ext cx="2688336" cy="5541264"/>
          </a:xfrm>
          <a:prstGeom prst="rect">
            <a:avLst/>
          </a:prstGeom>
          <a:solidFill>
            <a:srgbClr val="0B0B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pic>
        <p:nvPicPr>
          <p:cNvPr id="76" name="Picture 75" descr="group-log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4112" y="1207007"/>
            <a:ext cx="560698" cy="566928"/>
          </a:xfrm>
          <a:prstGeom prst="rect">
            <a:avLst/>
          </a:prstGeom>
        </p:spPr>
      </p:pic>
      <p:sp>
        <p:nvSpPr>
          <p:cNvPr id="77" name="Rectangle 76"/>
          <p:cNvSpPr/>
          <p:nvPr/>
        </p:nvSpPr>
        <p:spPr>
          <a:xfrm>
            <a:off x="8412480" y="1207007"/>
            <a:ext cx="177393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FFFFFF"/>
                </a:solidFill>
                <a:latin typeface="Segoe UI"/>
              </a:rPr>
              <a:t>FREEDOM GROUP ENTERPRISES LTD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00" b="1">
                <a:solidFill>
                  <a:srgbClr val="FF6A3D"/>
                </a:solidFill>
                <a:latin typeface="Segoe UI"/>
              </a:rPr>
              <a:t>Developing group 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BBBBBB"/>
                </a:solidFill>
                <a:latin typeface="Segoe UI"/>
              </a:rPr>
              <a:t>Group company. Strategy and brand architecture.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7754112" y="1883664"/>
            <a:ext cx="2359152" cy="0"/>
          </a:xfrm>
          <a:prstGeom prst="line">
            <a:avLst/>
          </a:prstGeom>
          <a:ln w="9525">
            <a:solidFill>
              <a:srgbClr val="3333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7754112" y="1975104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FF6A3D"/>
                </a:solidFill>
                <a:latin typeface="Segoe UI"/>
              </a:rPr>
              <a:t>     TRADING NOW</a:t>
            </a:r>
          </a:p>
        </p:txBody>
      </p:sp>
      <p:sp>
        <p:nvSpPr>
          <p:cNvPr id="80" name="Oval 79"/>
          <p:cNvSpPr/>
          <p:nvPr/>
        </p:nvSpPr>
        <p:spPr>
          <a:xfrm>
            <a:off x="7754112" y="2020824"/>
            <a:ext cx="91440" cy="91440"/>
          </a:xfrm>
          <a:prstGeom prst="ellipse">
            <a:avLst/>
          </a:prstGeom>
          <a:solidFill>
            <a:srgbClr val="FF6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754112" y="2194560"/>
            <a:ext cx="2359152" cy="786384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Fire &amp; Safety Ltd · becoming Freedom Global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Incorporated 27 August 2021 · the operating company on this page. Trades today as Freedom Global on eBay, Amazon, Temu, OnBuy and Shopify; takes the Freedom Global name, with Freedom Fire &amp; Safety continuing as the fire-safety brand.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754112" y="3090672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2FE0A0"/>
                </a:solidFill>
                <a:latin typeface="Segoe UI"/>
              </a:rPr>
              <a:t>     PROPOSED · 2028 TO 2029</a:t>
            </a:r>
          </a:p>
        </p:txBody>
      </p:sp>
      <p:sp>
        <p:nvSpPr>
          <p:cNvPr id="83" name="Oval 82"/>
          <p:cNvSpPr/>
          <p:nvPr/>
        </p:nvSpPr>
        <p:spPr>
          <a:xfrm>
            <a:off x="7754112" y="3136392"/>
            <a:ext cx="91440" cy="91440"/>
          </a:xfrm>
          <a:prstGeom prst="ellipse">
            <a:avLst/>
          </a:prstGeom>
          <a:solidFill>
            <a:srgbClr val="2FE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54112" y="3310128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Facilities · 2028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Compliance, servicing and facilities on recurring contracts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754112" y="3822191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Freedom Distribution · 2029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Trade and B2B supply of the owned brands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754112" y="4389120"/>
            <a:ext cx="2359152" cy="182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A487DF"/>
                </a:solidFill>
                <a:latin typeface="Segoe UI"/>
              </a:rPr>
              <a:t>     LONG-TERM OPTIONS · 2030 ONWARDS</a:t>
            </a:r>
          </a:p>
        </p:txBody>
      </p:sp>
      <p:sp>
        <p:nvSpPr>
          <p:cNvPr id="87" name="Oval 86"/>
          <p:cNvSpPr/>
          <p:nvPr/>
        </p:nvSpPr>
        <p:spPr>
          <a:xfrm>
            <a:off x="7754112" y="4434840"/>
            <a:ext cx="91440" cy="91440"/>
          </a:xfrm>
          <a:prstGeom prst="ellipse">
            <a:avLst/>
          </a:prstGeom>
          <a:solidFill>
            <a:srgbClr val="A487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54112" y="4608576"/>
            <a:ext cx="2359152" cy="457200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1">
                <a:solidFill>
                  <a:srgbClr val="FFFFFF"/>
                </a:solidFill>
                <a:latin typeface="Segoe UI"/>
              </a:rPr>
              <a:t>Form · Freight · Fly · Fuel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90" b="0">
                <a:solidFill>
                  <a:srgbClr val="BBBBBB"/>
                </a:solidFill>
                <a:latin typeface="Segoe UI"/>
              </a:rPr>
              <a:t>Property, logistics, aerial services and forecourts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54112" y="5193791"/>
            <a:ext cx="2359152" cy="566928"/>
          </a:xfrm>
          <a:prstGeom prst="rect">
            <a:avLst/>
          </a:prstGeom>
          <a:solidFill>
            <a:srgbClr val="161616"/>
          </a:solidFill>
          <a:ln w="6350">
            <a:solidFill>
              <a:srgbClr val="2A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20" b="1">
                <a:solidFill>
                  <a:srgbClr val="38A9FF"/>
                </a:solidFill>
                <a:latin typeface="Segoe UI"/>
              </a:rPr>
              <a:t>SHARED INFRASTRUCTURE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" b="0">
                <a:solidFill>
                  <a:srgbClr val="BBBBBB"/>
                </a:solidFill>
                <a:latin typeface="Segoe UI"/>
              </a:rPr>
              <a:t>Brands &amp; IP (Firestorm, FXL, Skyline) · direct sourcing · one warehouse · technology · marketplaces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754112" y="6035040"/>
            <a:ext cx="235915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lIns="54864" rIns="54864" tIns="27432" bIns="27432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9A9A9A"/>
                </a:solidFill>
                <a:latin typeface="Segoe UI"/>
              </a:rPr>
              <a:t>The group company and the proposed companies are not yet on the register. Years are targets; long-term options are not plans.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